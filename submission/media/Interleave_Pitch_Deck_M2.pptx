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03e06fecc4631" /><Relationship Type="http://schemas.openxmlformats.org/officeDocument/2006/relationships/extended-properties" Target="/docProps/app.xml" Id="R5396b5d10f13489c" /><Relationship Type="http://schemas.openxmlformats.org/officeDocument/2006/relationships/officeDocument" Target="/ppt/presentation.xml" Id="Re2fa88f395eb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3221af995494e"/>
  </p:sldMasterIdLst>
  <p:notesMasterIdLst>
    <p:notesMasterId xmlns:r="http://schemas.openxmlformats.org/officeDocument/2006/relationships" r:id="R298e496a99d14ece"/>
  </p:notesMasterIdLst>
  <p:sldIdLst>
    <p:sldId xmlns:r="http://schemas.openxmlformats.org/officeDocument/2006/relationships" id="256" r:id="Re1c803384ca646d0"/>
    <p:sldId xmlns:r="http://schemas.openxmlformats.org/officeDocument/2006/relationships" id="257" r:id="Re04c22a7dfd54df3"/>
    <p:sldId xmlns:r="http://schemas.openxmlformats.org/officeDocument/2006/relationships" id="258" r:id="R1de2fa1bdaa545fa"/>
    <p:sldId xmlns:r="http://schemas.openxmlformats.org/officeDocument/2006/relationships" id="259" r:id="Rb522c7a3cda9475a"/>
    <p:sldId xmlns:r="http://schemas.openxmlformats.org/officeDocument/2006/relationships" id="260" r:id="R58423701c74e40e4"/>
    <p:sldId xmlns:r="http://schemas.openxmlformats.org/officeDocument/2006/relationships" id="261" r:id="Rd105955693a6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297e0957e04219" /><Relationship Type="http://schemas.openxmlformats.org/officeDocument/2006/relationships/slideMaster" Target="/ppt/slideMasters/slideMaster1.xml" Id="R68c3221af995494e" /><Relationship Type="http://schemas.openxmlformats.org/officeDocument/2006/relationships/notesMaster" Target="/ppt/notesMasters/notesMaster1.xml" Id="R298e496a99d14ece" /><Relationship Type="http://schemas.openxmlformats.org/officeDocument/2006/relationships/presProps" Target="/ppt/presProps.xml" Id="Re6af49443186445d" /><Relationship Type="http://schemas.openxmlformats.org/officeDocument/2006/relationships/tableStyles" Target="/ppt/tableStyles.xml" Id="R013f2bf9b8e64b11" /><Relationship Type="http://schemas.openxmlformats.org/officeDocument/2006/relationships/slide" Target="/ppt/slides/slide1.xml" Id="Re1c803384ca646d0" /><Relationship Type="http://schemas.openxmlformats.org/officeDocument/2006/relationships/slide" Target="/ppt/slides/slide2.xml" Id="Re04c22a7dfd54df3" /><Relationship Type="http://schemas.openxmlformats.org/officeDocument/2006/relationships/slide" Target="/ppt/slides/slide3.xml" Id="R1de2fa1bdaa545fa" /><Relationship Type="http://schemas.openxmlformats.org/officeDocument/2006/relationships/slide" Target="/ppt/slides/slide4.xml" Id="Rb522c7a3cda9475a" /><Relationship Type="http://schemas.openxmlformats.org/officeDocument/2006/relationships/slide" Target="/ppt/slides/slide5.xml" Id="R58423701c74e40e4" /><Relationship Type="http://schemas.openxmlformats.org/officeDocument/2006/relationships/slide" Target="/ppt/slides/slide6.xml" Id="Rd105955693a6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09f93ac771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900d2596a4873" /><Relationship Type="http://schemas.openxmlformats.org/officeDocument/2006/relationships/notesMaster" Target="/ppt/notesMasters/notesMaster1.xml" Id="R35b3fa96eccb4d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6482f08ee4d80" /><Relationship Type="http://schemas.openxmlformats.org/officeDocument/2006/relationships/notesMaster" Target="/ppt/notesMasters/notesMaster1.xml" Id="R07d04142978546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c5da5651246fd" /><Relationship Type="http://schemas.openxmlformats.org/officeDocument/2006/relationships/notesMaster" Target="/ppt/notesMasters/notesMaster1.xml" Id="R1befa67a99a440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fe2172473f4337" /><Relationship Type="http://schemas.openxmlformats.org/officeDocument/2006/relationships/notesMaster" Target="/ppt/notesMasters/notesMaster1.xml" Id="R2bf8e0fc86ea4d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08f1f516694b75" /><Relationship Type="http://schemas.openxmlformats.org/officeDocument/2006/relationships/notesMaster" Target="/ppt/notesMasters/notesMaster1.xml" Id="Ra880d6888f864b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0b481d01e44c9" /><Relationship Type="http://schemas.openxmlformats.org/officeDocument/2006/relationships/notesMaster" Target="/ppt/notesMasters/notesMaster1.xml" Id="Rb01ecce55cf7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local evidence snapshot, not a claim that the full competition submission is complete. The cover uses original abstract illustration, not a product screenshot. Project state is documented in README.md, docs/milestones.md, and docs/competition-compliance.md.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baseline facts from docs/milestones.md and witnesses/frozen/. The Last Seat report records 5 execution paths and one invariant bug: two successful reservations against capacity one. The Duplicate Job Claim report records 8 fair paths and one bug: both workers returned ClaimResult.Claimed. The counts are separate experiments, not aggregate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summary from README.md and docs/milestones.md. IBM Bob 2.0 was a development tool. Microsoft Coyote 1.7.11 controlled systematic schedule exploration and reported invariant outcomes. The repository does not integrate Bob, watsonx, or another AI service at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M2 facts in docs/milestones.md and docs/competition-compliance.md: each repaired Coyote scenario explored 500 fair paths, 0 unfair paths, and found 0 bugs within the 1,000-step scheduling limit. The complete local sequential suite passed 13/13 and the Coyote concurrency suite passed 9/9 with absolute paths to both frozen traces supplied. The solution built with zero warnings and errors. GitHub Actions has not yet run remotely. A zero-bug bounded run is evidence about explored schedules, not an exhaustive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facts from src/Interleave.Core/SeatReservationService.cs, src/Interleave.Core/JobClaimService.cs, and docs/architecture.md. The Last Seat lock covers availability check, decrement, and reservation insertion. Public reads synchronize with the state; the reservation list is a detached snapshot. Duplicate Job Claim serializes check-and-claim. Its invariant counts actual worker return values because stale writes could leave the shared counter at one when both workers returned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status from docs/milestones.md and docs/competition-compliance.md. The public source repository is https://github.com/KashyapSinh-Gohil/Interleave and the published source commit is 1fd5481. No verified release tag exists. A public web application, deployment URL, benchmark, remote CI result, Bob session-summary screenshot folder, and recorded demo video remain open. Exact schedule alignment remains unresolved for both frozen post-fix traces. The official event checklist asks for a public code repository, Bob session-summary screenshots, demo platform/application URL, PDF slide presentation, and MP4 video. Sources: https://lablab.ai/ai-hackathons/ibm-bob-2-hackathon#what-to-submit and https://lablab-ibm-bob-2-hackathon-guide.s3.us.cloud-object-storage.appdomain.cloud/index.html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446de87734d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5b186cc8044646" /><Relationship Type="http://schemas.openxmlformats.org/officeDocument/2006/relationships/slideLayout" Target="/ppt/slideLayouts/slideLayout1.xml" Id="Rb536abba6ce9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6abba6ce9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6865036864de0" /><Relationship Type="http://schemas.openxmlformats.org/officeDocument/2006/relationships/image" Target="/ppt/media/image.png" Id="R86abecfe2199443e" /><Relationship Type="http://schemas.openxmlformats.org/officeDocument/2006/relationships/notesSlide" Target="/ppt/notesSlides/notesSlide1.xml" Id="R033a04958eb34a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402495d784b5c" /><Relationship Type="http://schemas.openxmlformats.org/officeDocument/2006/relationships/notesSlide" Target="/ppt/notesSlides/notesSlide2.xml" Id="Ree3e69097f6946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0f2c5272243b6" /><Relationship Type="http://schemas.openxmlformats.org/officeDocument/2006/relationships/notesSlide" Target="/ppt/notesSlides/notesSlide3.xml" Id="Rbdcdeac8b5cc4c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5411e64e04d0e" /><Relationship Type="http://schemas.openxmlformats.org/officeDocument/2006/relationships/notesSlide" Target="/ppt/notesSlides/notesSlide4.xml" Id="Rba42b1711af7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38c03b8e14c21" /><Relationship Type="http://schemas.openxmlformats.org/officeDocument/2006/relationships/notesSlide" Target="/ppt/notesSlides/notesSlide5.xml" Id="Rbbcd972ea7194b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b2c7890c7440c" /><Relationship Type="http://schemas.openxmlformats.org/officeDocument/2006/relationships/notesSlide" Target="/ppt/notesSlides/notesSlide6.xml" Id="R9063111cf68f46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becfe219944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vent-kicker">
            <a:extLst xmlns:a="http://schemas.openxmlformats.org/drawingml/2006/main">
              <a:ext uri="{FF2B5EF4-FFF2-40B4-BE49-F238E27FC236}">
                <a16:creationId xmlns:a16="http://schemas.microsoft.com/office/drawing/2014/main" id="{A5DC8870-48CE-439A-8AA1-B25C2B6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rPr>
              <a:t>IBM BOB 2.0 HACKATHON  /  PROJECT SNAPSHOT</a:t>
            </a:r>
          </a:p>
        </p:txBody>
      </p:sp>
      <p:sp>
        <p:nvSpPr>
          <p:cNvPr id="3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DFA97D8B-2963-4095-B502-C19D8D03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704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85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INTERLEAVE</a:t>
            </a:r>
          </a:p>
        </p:txBody>
      </p:sp>
      <p:sp>
        <p:nvSpPr>
          <p:cNvPr id="4" name="tagline">
            <a:extLst xmlns:a="http://schemas.openxmlformats.org/drawingml/2006/main">
              <a:ext uri="{FF2B5EF4-FFF2-40B4-BE49-F238E27FC236}">
                <a16:creationId xmlns:a16="http://schemas.microsoft.com/office/drawing/2014/main" id="{F99D464E-91A8-442E-BD48-B2A1A540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7239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concurrency defects,</a:t>
            </a:r>
          </a:p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traced and checked after repair.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51A5A50-621A-49F6-86C8-3C4593D7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35B"/>
          </a:solidFill>
          <a:ln xmlns:a="http://schemas.openxmlformats.org/drawingml/2006/main" w="0">
            <a:noFill/>
          </a:ln>
        </p:spPr>
      </p:sp>
      <p:sp>
        <p:nvSpPr>
          <p:cNvPr id="6" name="summary">
            <a:extLst xmlns:a="http://schemas.openxmlformats.org/drawingml/2006/main">
              <a:ext uri="{FF2B5EF4-FFF2-40B4-BE49-F238E27FC236}">
                <a16:creationId xmlns:a16="http://schemas.microsoft.com/office/drawing/2014/main" id="{B7C383FD-0522-421E-9834-7BE88213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1EB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1EBED"/>
                </a:solidFill>
                <a:latin typeface="Helvetica Neue"/>
                <a:ea typeface="Helvetica Neue"/>
                <a:cs typeface="Helvetica Neue"/>
              </a:rPr>
              <a:t>A Coyote-backed .NET 8 proof of concept</a:t>
            </a:r>
          </a:p>
        </p:txBody>
      </p:sp>
      <p:sp>
        <p:nvSpPr>
          <p:cNvPr id="7" name="snapshot-date">
            <a:extLst xmlns:a="http://schemas.openxmlformats.org/drawingml/2006/main">
              <a:ext uri="{FF2B5EF4-FFF2-40B4-BE49-F238E27FC236}">
                <a16:creationId xmlns:a16="http://schemas.microsoft.com/office/drawing/2014/main" id="{49DE640C-CB5A-4D87-9DE5-82EB1776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0DE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0DEE1"/>
                </a:solidFill>
                <a:latin typeface="Helvetica Neue"/>
                <a:ea typeface="Helvetica Neue"/>
                <a:cs typeface="Helvetica Neue"/>
              </a:rPr>
              <a:t>LOCAL PROTOTYPE STATUS   27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06249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D60682-5E74-4F78-A404-6EB7871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INTERLEAVE  /  M2 EVIDENCE SNAPSHOT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32BBF9-EAC3-4594-867B-B0BA9DCB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Both baselines violated a business invariant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92C4B47-6B43-4E47-9587-1B3CDFEB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AD0439-E360-425C-A3C2-FFA72B51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837B86A-5494-460C-B114-56A13F9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Coyote found schedules where concurrent requests duplicated a scarce resource.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92308E08-ACD1-4961-971F-534C34BE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7" name="last-seat-label">
            <a:extLst xmlns:a="http://schemas.openxmlformats.org/drawingml/2006/main">
              <a:ext uri="{FF2B5EF4-FFF2-40B4-BE49-F238E27FC236}">
                <a16:creationId xmlns:a16="http://schemas.microsoft.com/office/drawing/2014/main" id="{8094E07A-BA67-44FE-990F-5F4742D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LAST SEAT</a:t>
            </a:r>
          </a:p>
        </p:txBody>
      </p:sp>
      <p:sp>
        <p:nvSpPr>
          <p:cNvPr id="8" name="last-seat-number">
            <a:extLst xmlns:a="http://schemas.openxmlformats.org/drawingml/2006/main">
              <a:ext uri="{FF2B5EF4-FFF2-40B4-BE49-F238E27FC236}">
                <a16:creationId xmlns:a16="http://schemas.microsoft.com/office/drawing/2014/main" id="{B1132958-F944-4628-BD4D-B0FEBDCE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51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F57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CF574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last-seat-result">
            <a:extLst xmlns:a="http://schemas.openxmlformats.org/drawingml/2006/main">
              <a:ext uri="{FF2B5EF4-FFF2-40B4-BE49-F238E27FC236}">
                <a16:creationId xmlns:a16="http://schemas.microsoft.com/office/drawing/2014/main" id="{3F41F226-43C6-4136-BBE8-A71F73D6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successful reservations</a:t>
            </a:r>
          </a:p>
          <a:p xmlns:a="http://schemas.openxmlformats.org/drawingml/2006/main">
            <a:pPr>
              <a:def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for one available seat</a:t>
            </a:r>
          </a:p>
        </p:txBody>
      </p:sp>
      <p:sp>
        <p:nvSpPr>
          <p:cNvPr id="10" name="last-seat-baseline">
            <a:extLst xmlns:a="http://schemas.openxmlformats.org/drawingml/2006/main">
              <a:ext uri="{FF2B5EF4-FFF2-40B4-BE49-F238E27FC236}">
                <a16:creationId xmlns:a16="http://schemas.microsoft.com/office/drawing/2014/main" id="{F5030022-24EC-4C50-9ADA-51CFF897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2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Baseline report: 5 paths explored, 1 invariant violation.</a:t>
            </a:r>
          </a:p>
        </p:txBody>
      </p:sp>
      <p:sp>
        <p:nvSpPr>
          <p:cNvPr id="11" name="last-seat-violation">
            <a:extLst xmlns:a="http://schemas.openxmlformats.org/drawingml/2006/main">
              <a:ext uri="{FF2B5EF4-FFF2-40B4-BE49-F238E27FC236}">
                <a16:creationId xmlns:a16="http://schemas.microsoft.com/office/drawing/2014/main" id="{6AF1EEAC-9B20-41C2-BDDD-C3B63EF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762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0">
            <a:noFill/>
          </a:ln>
        </p:spPr>
      </p:sp>
      <p:sp>
        <p:nvSpPr>
          <p:cNvPr id="12" name="last-seat-invariant">
            <a:extLst xmlns:a="http://schemas.openxmlformats.org/drawingml/2006/main">
              <a:ext uri="{FF2B5EF4-FFF2-40B4-BE49-F238E27FC236}">
                <a16:creationId xmlns:a16="http://schemas.microsoft.com/office/drawing/2014/main" id="{EFD28274-241F-4697-8E66-8CA9CD4F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F33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F332B"/>
                </a:solidFill>
                <a:latin typeface="Helvetica Neue"/>
                <a:ea typeface="Helvetica Neue"/>
                <a:cs typeface="Helvetica Neue"/>
              </a:rPr>
              <a:t>Invariant: reservations cannot exceed capacity.</a:t>
            </a:r>
          </a:p>
        </p:txBody>
      </p:sp>
      <p:sp>
        <p:nvSpPr>
          <p:cNvPr id="13" name="job-claim-label">
            <a:extLst xmlns:a="http://schemas.openxmlformats.org/drawingml/2006/main">
              <a:ext uri="{FF2B5EF4-FFF2-40B4-BE49-F238E27FC236}">
                <a16:creationId xmlns:a16="http://schemas.microsoft.com/office/drawing/2014/main" id="{B84589E2-18E1-4172-B85B-6A80ADF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DUPLICATE JOB CLAIM</a:t>
            </a:r>
          </a:p>
        </p:txBody>
      </p:sp>
      <p:sp>
        <p:nvSpPr>
          <p:cNvPr id="14" name="job-claim-number">
            <a:extLst xmlns:a="http://schemas.openxmlformats.org/drawingml/2006/main">
              <a:ext uri="{FF2B5EF4-FFF2-40B4-BE49-F238E27FC236}">
                <a16:creationId xmlns:a16="http://schemas.microsoft.com/office/drawing/2014/main" id="{CE2A4E41-30C1-4B21-8516-C8F989CC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51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F57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CF574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job-claim-result">
            <a:extLst xmlns:a="http://schemas.openxmlformats.org/drawingml/2006/main">
              <a:ext uri="{FF2B5EF4-FFF2-40B4-BE49-F238E27FC236}">
                <a16:creationId xmlns:a16="http://schemas.microsoft.com/office/drawing/2014/main" id="{0AC262B7-AC9C-4974-AFC7-72288E39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workers returned</a:t>
            </a:r>
          </a:p>
          <a:p xmlns:a="http://schemas.openxmlformats.org/drawingml/2006/main">
            <a:pPr>
              <a:def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Claimed for one job</a:t>
            </a:r>
          </a:p>
        </p:txBody>
      </p:sp>
      <p:sp>
        <p:nvSpPr>
          <p:cNvPr id="16" name="job-claim-baseline">
            <a:extLst xmlns:a="http://schemas.openxmlformats.org/drawingml/2006/main">
              <a:ext uri="{FF2B5EF4-FFF2-40B4-BE49-F238E27FC236}">
                <a16:creationId xmlns:a16="http://schemas.microsoft.com/office/drawing/2014/main" id="{FFEE6CC3-A1E9-47CA-926D-6923954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905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Baseline report: 8 fair paths explored, 1 invariant violation.</a:t>
            </a:r>
          </a:p>
        </p:txBody>
      </p:sp>
      <p:sp>
        <p:nvSpPr>
          <p:cNvPr id="17" name="job-claim-violation">
            <a:extLst xmlns:a="http://schemas.openxmlformats.org/drawingml/2006/main">
              <a:ext uri="{FF2B5EF4-FFF2-40B4-BE49-F238E27FC236}">
                <a16:creationId xmlns:a16="http://schemas.microsoft.com/office/drawing/2014/main" id="{33D7D1E9-0A06-4D71-912A-5BD05100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49053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0">
            <a:noFill/>
          </a:ln>
        </p:spPr>
      </p:sp>
      <p:sp>
        <p:nvSpPr>
          <p:cNvPr id="18" name="job-claim-invariant">
            <a:extLst xmlns:a="http://schemas.openxmlformats.org/drawingml/2006/main">
              <a:ext uri="{FF2B5EF4-FFF2-40B4-BE49-F238E27FC236}">
                <a16:creationId xmlns:a16="http://schemas.microsoft.com/office/drawing/2014/main" id="{860DF5FB-75C1-4576-9AEB-39B5BA7D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86325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F33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F332B"/>
                </a:solidFill>
                <a:latin typeface="Helvetica Neue"/>
                <a:ea typeface="Helvetica Neue"/>
                <a:cs typeface="Helvetica Neue"/>
              </a:rPr>
              <a:t>Invariant: at most one worker may claim the job.</a:t>
            </a:r>
          </a:p>
        </p:txBody>
      </p:sp>
    </p:spTree>
    <p:extLst>
      <p:ext uri="{BB962C8B-B14F-4D97-AF65-F5344CB8AC3E}">
        <p14:creationId xmlns:p14="http://schemas.microsoft.com/office/powerpoint/2010/main" val="979368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50A4BA6-0BC0-4108-8FB6-40E65815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rPr>
              <a:t>INTERLEAVE  /  M2 EVIDENCE SNAPSHOT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0B8095-D9C4-4887-AAFB-B54B3F1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frozen failure makes the repair testable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7E0972C-9334-4EE2-ABA6-366FC3B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4B"/>
          </a:solidFill>
          <a:ln xmlns:a="http://schemas.openxmlformats.org/drawingml/2006/main" w="0">
            <a:noFill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B5DD28-9B54-4DFC-8658-EF048DC0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BD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9BDC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DC3F018-8931-4735-ABDF-CE23DB4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2D2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2D2D5"/>
                </a:solidFill>
                <a:latin typeface="Helvetica Neue"/>
                <a:ea typeface="Helvetica Neue"/>
                <a:cs typeface="Helvetica Neue"/>
              </a:rPr>
              <a:t>Coyote supplies systematic schedules and the invariant verdict for each example.</a:t>
            </a:r>
          </a:p>
        </p:txBody>
      </p:sp>
      <p:sp>
        <p:nvSpPr>
          <p:cNvPr id="6" name="method-number-01">
            <a:extLst xmlns:a="http://schemas.openxmlformats.org/drawingml/2006/main">
              <a:ext uri="{FF2B5EF4-FFF2-40B4-BE49-F238E27FC236}">
                <a16:creationId xmlns:a16="http://schemas.microsoft.com/office/drawing/2014/main" id="{9919D198-62AA-495C-86E6-C78937B2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method-title-01">
            <a:extLst xmlns:a="http://schemas.openxmlformats.org/drawingml/2006/main">
              <a:ext uri="{FF2B5EF4-FFF2-40B4-BE49-F238E27FC236}">
                <a16:creationId xmlns:a16="http://schemas.microsoft.com/office/drawing/2014/main" id="{517F0401-0CEE-465B-8D18-5E05F3F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Define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CB9C1B55-7265-4F64-BDAA-1A3F964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BE"/>
          </a:solidFill>
          <a:ln xmlns:a="http://schemas.openxmlformats.org/drawingml/2006/main" w="0">
            <a:noFill/>
          </a:ln>
        </p:spPr>
      </p:sp>
      <p:sp>
        <p:nvSpPr>
          <p:cNvPr id="9" name="method-body-01">
            <a:extLst xmlns:a="http://schemas.openxmlformats.org/drawingml/2006/main">
              <a:ext uri="{FF2B5EF4-FFF2-40B4-BE49-F238E27FC236}">
                <a16:creationId xmlns:a16="http://schemas.microsoft.com/office/drawing/2014/main" id="{0B6C1D24-0249-4D39-883A-8C06D91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Write the business</a:t>
            </a:r>
          </a:p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invariant as a test.</a:t>
            </a:r>
          </a:p>
        </p:txBody>
      </p:sp>
      <p:sp>
        <p:nvSpPr>
          <p:cNvPr id="10" name="method-number-02">
            <a:extLst xmlns:a="http://schemas.openxmlformats.org/drawingml/2006/main">
              <a:ext uri="{FF2B5EF4-FFF2-40B4-BE49-F238E27FC236}">
                <a16:creationId xmlns:a16="http://schemas.microsoft.com/office/drawing/2014/main" id="{9CD15051-82B9-4153-8346-EBADEC90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B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2B3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method-title-02">
            <a:extLst xmlns:a="http://schemas.openxmlformats.org/drawingml/2006/main">
              <a:ext uri="{FF2B5EF4-FFF2-40B4-BE49-F238E27FC236}">
                <a16:creationId xmlns:a16="http://schemas.microsoft.com/office/drawing/2014/main" id="{9534FEB8-EEAC-4082-ABF6-A0523CEB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Explore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D15F3DCD-EC1A-404D-B145-A0C548B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433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35B"/>
          </a:solidFill>
          <a:ln xmlns:a="http://schemas.openxmlformats.org/drawingml/2006/main" w="0">
            <a:noFill/>
          </a:ln>
        </p:spPr>
      </p:sp>
      <p:sp>
        <p:nvSpPr>
          <p:cNvPr id="13" name="method-body-02">
            <a:extLst xmlns:a="http://schemas.openxmlformats.org/drawingml/2006/main">
              <a:ext uri="{FF2B5EF4-FFF2-40B4-BE49-F238E27FC236}">
                <a16:creationId xmlns:a16="http://schemas.microsoft.com/office/drawing/2014/main" id="{517FE78F-0BD0-4800-9B45-3687D9A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8145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1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Coyote controls</a:t>
            </a:r>
          </a:p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concurrent schedules.</a:t>
            </a:r>
          </a:p>
        </p:txBody>
      </p:sp>
      <p:sp>
        <p:nvSpPr>
          <p:cNvPr id="14" name="method-number-03">
            <a:extLst xmlns:a="http://schemas.openxmlformats.org/drawingml/2006/main">
              <a:ext uri="{FF2B5EF4-FFF2-40B4-BE49-F238E27FC236}">
                <a16:creationId xmlns:a16="http://schemas.microsoft.com/office/drawing/2014/main" id="{81CD08CC-E8DD-4378-8A0F-07CFC5A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3D9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method-title-03">
            <a:extLst xmlns:a="http://schemas.openxmlformats.org/drawingml/2006/main">
              <a:ext uri="{FF2B5EF4-FFF2-40B4-BE49-F238E27FC236}">
                <a16:creationId xmlns:a16="http://schemas.microsoft.com/office/drawing/2014/main" id="{E84041B7-50D0-4681-B3F8-EE5C84E3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Preserve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1C9C154C-25DD-4BA7-9050-71215FF7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BE"/>
          </a:solidFill>
          <a:ln xmlns:a="http://schemas.openxmlformats.org/drawingml/2006/main" w="0">
            <a:noFill/>
          </a:ln>
        </p:spPr>
      </p:sp>
      <p:sp>
        <p:nvSpPr>
          <p:cNvPr id="17" name="method-body-03">
            <a:extLst xmlns:a="http://schemas.openxmlformats.org/drawingml/2006/main">
              <a:ext uri="{FF2B5EF4-FFF2-40B4-BE49-F238E27FC236}">
                <a16:creationId xmlns:a16="http://schemas.microsoft.com/office/drawing/2014/main" id="{87765BA0-E296-41FF-A7D7-6546278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1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Keep the failing report,</a:t>
            </a:r>
          </a:p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raw trace, and checksum.</a:t>
            </a:r>
          </a:p>
        </p:txBody>
      </p:sp>
      <p:sp>
        <p:nvSpPr>
          <p:cNvPr id="18" name="method-number-04">
            <a:extLst xmlns:a="http://schemas.openxmlformats.org/drawingml/2006/main">
              <a:ext uri="{FF2B5EF4-FFF2-40B4-BE49-F238E27FC236}">
                <a16:creationId xmlns:a16="http://schemas.microsoft.com/office/drawing/2014/main" id="{2D6AB622-CEEB-450D-BA0E-2465A602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B3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2B3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method-title-04">
            <a:extLst xmlns:a="http://schemas.openxmlformats.org/drawingml/2006/main">
              <a:ext uri="{FF2B5EF4-FFF2-40B4-BE49-F238E27FC236}">
                <a16:creationId xmlns:a16="http://schemas.microsoft.com/office/drawing/2014/main" id="{6A1F5A70-15EF-411B-87ED-A8B1B7EA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Recheck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117848AF-9BF7-4E73-9CB8-5E804940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433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35B"/>
          </a:solidFill>
          <a:ln xmlns:a="http://schemas.openxmlformats.org/drawingml/2006/main" w="0">
            <a:noFill/>
          </a:ln>
        </p:spPr>
      </p:sp>
      <p:sp>
        <p:nvSpPr>
          <p:cNvPr id="21" name="method-body-04">
            <a:extLst xmlns:a="http://schemas.openxmlformats.org/drawingml/2006/main">
              <a:ext uri="{FF2B5EF4-FFF2-40B4-BE49-F238E27FC236}">
                <a16:creationId xmlns:a16="http://schemas.microsoft.com/office/drawing/2014/main" id="{0D215FDA-E4C2-4CDF-B575-8B95611B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2324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3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Repair the state change,</a:t>
            </a:r>
          </a:p>
          <a:p xmlns:a="http://schemas.openxmlformats.org/drawingml/2006/main">
            <a:pPr>
              <a:def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E4E6"/>
                </a:solidFill>
                <a:latin typeface="Helvetica Neue"/>
                <a:ea typeface="Helvetica Neue"/>
                <a:cs typeface="Helvetica Neue"/>
              </a:rPr>
              <a:t>then run bounded checks.</a:t>
            </a:r>
          </a:p>
        </p:txBody>
      </p:sp>
      <p:sp>
        <p:nvSpPr>
          <p:cNvPr id="22" name="divider">
            <a:extLst xmlns:a="http://schemas.openxmlformats.org/drawingml/2006/main">
              <a:ext uri="{FF2B5EF4-FFF2-40B4-BE49-F238E27FC236}">
                <a16:creationId xmlns:a16="http://schemas.microsoft.com/office/drawing/2014/main" id="{3924C46C-A73A-47DA-8848-E1DDA9E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4B"/>
          </a:solidFill>
          <a:ln xmlns:a="http://schemas.openxmlformats.org/drawingml/2006/main" w="0">
            <a:noFill/>
          </a:ln>
        </p:spPr>
      </p:sp>
      <p:sp>
        <p:nvSpPr>
          <p:cNvPr id="23" name="authority-boundary">
            <a:extLst xmlns:a="http://schemas.openxmlformats.org/drawingml/2006/main">
              <a:ext uri="{FF2B5EF4-FFF2-40B4-BE49-F238E27FC236}">
                <a16:creationId xmlns:a16="http://schemas.microsoft.com/office/drawing/2014/main" id="{B364E508-1E74-4478-BDAF-4A4F0DB0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34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FDD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FDDE0"/>
                </a:solidFill>
                <a:latin typeface="Helvetica Neue"/>
                <a:ea typeface="Helvetica Neue"/>
                <a:cs typeface="Helvetica Neue"/>
              </a:rPr>
              <a:t>IBM Bob assisted development. Microsoft Coyote controls exploration and reports test results.</a:t>
            </a:r>
          </a:p>
        </p:txBody>
      </p:sp>
    </p:spTree>
    <p:extLst>
      <p:ext uri="{BB962C8B-B14F-4D97-AF65-F5344CB8AC3E}">
        <p14:creationId xmlns:p14="http://schemas.microsoft.com/office/powerpoint/2010/main" val="1851443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6406387-4F28-4054-8615-B5CFFAE7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INTERLEAVE  /  M2 EVIDENCE SNAPSHOT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89BB6-8645-4F65-A793-9401BAA9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Both repairs passed bounded local exploration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61B3B195-12CB-47BF-BD44-B59348F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36718A-2A5F-4851-977A-E54E854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7187873-E47C-4546-A557-86E0987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Coyote 1.7.11 used the portfolio fair strategy and a 1,000-step scheduling limit.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4FD13290-82E3-467E-8422-CBBA1EC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190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7" name="seat-title">
            <a:extLst xmlns:a="http://schemas.openxmlformats.org/drawingml/2006/main">
              <a:ext uri="{FF2B5EF4-FFF2-40B4-BE49-F238E27FC236}">
                <a16:creationId xmlns:a16="http://schemas.microsoft.com/office/drawing/2014/main" id="{12C937F0-071C-43DA-A9EF-9A97B2FC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LAST SEAT</a:t>
            </a:r>
          </a:p>
        </p:txBody>
      </p:sp>
      <p:sp>
        <p:nvSpPr>
          <p:cNvPr id="8" name="seat-paths">
            <a:extLst xmlns:a="http://schemas.openxmlformats.org/drawingml/2006/main">
              <a:ext uri="{FF2B5EF4-FFF2-40B4-BE49-F238E27FC236}">
                <a16:creationId xmlns:a16="http://schemas.microsoft.com/office/drawing/2014/main" id="{87CA9F81-118B-459C-9C1E-E40C159D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500</a:t>
            </a:r>
          </a:p>
        </p:txBody>
      </p:sp>
      <p:sp>
        <p:nvSpPr>
          <p:cNvPr id="9" name="seat-path-label">
            <a:extLst xmlns:a="http://schemas.openxmlformats.org/drawingml/2006/main">
              <a:ext uri="{FF2B5EF4-FFF2-40B4-BE49-F238E27FC236}">
                <a16:creationId xmlns:a16="http://schemas.microsoft.com/office/drawing/2014/main" id="{4CDE2229-0129-491B-994D-6E1C236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385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fair paths</a:t>
            </a:r>
          </a:p>
        </p:txBody>
      </p:sp>
      <p:sp>
        <p:nvSpPr>
          <p:cNvPr id="10" name="seat-bugs">
            <a:extLst xmlns:a="http://schemas.openxmlformats.org/drawingml/2006/main">
              <a:ext uri="{FF2B5EF4-FFF2-40B4-BE49-F238E27FC236}">
                <a16:creationId xmlns:a16="http://schemas.microsoft.com/office/drawing/2014/main" id="{F30B6B53-D903-4180-AFF1-53B5FE10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seat-bugs-label">
            <a:extLst xmlns:a="http://schemas.openxmlformats.org/drawingml/2006/main">
              <a:ext uri="{FF2B5EF4-FFF2-40B4-BE49-F238E27FC236}">
                <a16:creationId xmlns:a16="http://schemas.microsoft.com/office/drawing/2014/main" id="{E50CE947-E18F-4FE9-85AB-834AF393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38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bugs found</a:t>
            </a:r>
          </a:p>
        </p:txBody>
      </p:sp>
      <p:sp>
        <p:nvSpPr>
          <p:cNvPr id="12" name="seat-bound">
            <a:extLst xmlns:a="http://schemas.openxmlformats.org/drawingml/2006/main">
              <a:ext uri="{FF2B5EF4-FFF2-40B4-BE49-F238E27FC236}">
                <a16:creationId xmlns:a16="http://schemas.microsoft.com/office/drawing/2014/main" id="{894E2F41-82E6-4F46-B687-B6E95E1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Repaired bounded run</a:t>
            </a:r>
          </a:p>
        </p:txBody>
      </p:sp>
      <p:sp>
        <p:nvSpPr>
          <p:cNvPr id="1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8132EF0-E491-448A-85A8-CEE152FC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DUPLICATE JOB CLAIM</a:t>
            </a:r>
          </a:p>
        </p:txBody>
      </p:sp>
      <p:sp>
        <p:nvSpPr>
          <p:cNvPr id="14" name="claim-paths">
            <a:extLst xmlns:a="http://schemas.openxmlformats.org/drawingml/2006/main">
              <a:ext uri="{FF2B5EF4-FFF2-40B4-BE49-F238E27FC236}">
                <a16:creationId xmlns:a16="http://schemas.microsoft.com/office/drawing/2014/main" id="{5C37ADD1-B843-448D-993E-B173898F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500</a:t>
            </a:r>
          </a:p>
        </p:txBody>
      </p:sp>
      <p:sp>
        <p:nvSpPr>
          <p:cNvPr id="15" name="claim-path-label">
            <a:extLst xmlns:a="http://schemas.openxmlformats.org/drawingml/2006/main">
              <a:ext uri="{FF2B5EF4-FFF2-40B4-BE49-F238E27FC236}">
                <a16:creationId xmlns:a16="http://schemas.microsoft.com/office/drawing/2014/main" id="{039F76C7-03F6-4E59-9A9C-C0997DEA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fair paths</a:t>
            </a:r>
          </a:p>
        </p:txBody>
      </p:sp>
      <p:sp>
        <p:nvSpPr>
          <p:cNvPr id="16" name="claim-bugs">
            <a:extLst xmlns:a="http://schemas.openxmlformats.org/drawingml/2006/main">
              <a:ext uri="{FF2B5EF4-FFF2-40B4-BE49-F238E27FC236}">
                <a16:creationId xmlns:a16="http://schemas.microsoft.com/office/drawing/2014/main" id="{C0B16BE2-096D-48E2-993B-0F094B0F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1940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7" name="claim-bugs-label">
            <a:extLst xmlns:a="http://schemas.openxmlformats.org/drawingml/2006/main">
              <a:ext uri="{FF2B5EF4-FFF2-40B4-BE49-F238E27FC236}">
                <a16:creationId xmlns:a16="http://schemas.microsoft.com/office/drawing/2014/main" id="{4EB706EF-0865-41A3-A5E1-B32816BD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38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bugs found</a:t>
            </a:r>
          </a:p>
        </p:txBody>
      </p:sp>
      <p:sp>
        <p:nvSpPr>
          <p:cNvPr id="18" name="claim-bound">
            <a:extLst xmlns:a="http://schemas.openxmlformats.org/drawingml/2006/main">
              <a:ext uri="{FF2B5EF4-FFF2-40B4-BE49-F238E27FC236}">
                <a16:creationId xmlns:a16="http://schemas.microsoft.com/office/drawing/2014/main" id="{54A77A91-92D7-458C-BECB-248E7E4F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Repaired bounded run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029CD355-9CB2-40C4-87C7-039B30FE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20" name="suite-totals">
            <a:extLst xmlns:a="http://schemas.openxmlformats.org/drawingml/2006/main">
              <a:ext uri="{FF2B5EF4-FFF2-40B4-BE49-F238E27FC236}">
                <a16:creationId xmlns:a16="http://schemas.microsoft.com/office/drawing/2014/main" id="{1588A103-79DC-4A4C-9123-94883963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Local suites passed: 13 / 13 sequential tests and 9 / 9 Coyote tests.</a:t>
            </a:r>
          </a:p>
        </p:txBody>
      </p:sp>
      <p:sp>
        <p:nvSpPr>
          <p:cNvPr id="21" name="verification-limit">
            <a:extLst xmlns:a="http://schemas.openxmlformats.org/drawingml/2006/main">
              <a:ext uri="{FF2B5EF4-FFF2-40B4-BE49-F238E27FC236}">
                <a16:creationId xmlns:a16="http://schemas.microsoft.com/office/drawing/2014/main" id="{82C43515-1AF9-4967-AE40-0F2586D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Finite schedule coverage only. These runs do not prove every execution is safe.</a:t>
            </a:r>
          </a:p>
        </p:txBody>
      </p:sp>
    </p:spTree>
    <p:extLst>
      <p:ext uri="{BB962C8B-B14F-4D97-AF65-F5344CB8AC3E}">
        <p14:creationId xmlns:p14="http://schemas.microsoft.com/office/powerpoint/2010/main" val="1788192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785B96-8925-4CE5-A50F-324822C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INTERLEAVE  /  M2 EVIDENCE SNAPSHOT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7A9DA4-F748-4CAB-B663-DFA5CA55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Each lock protects the complete state change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39EEE0F0-11C8-4E4D-921E-56492FED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586D4F-0F93-42B2-B3C1-538C35BC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39A543C-5828-4B77-BF7C-BD458C5B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The invariant checks the actual business outcome, not a counter that can hide a race.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925BF51F-4869-4396-A811-9AE9B73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7" name="seat-repair-label">
            <a:extLst xmlns:a="http://schemas.openxmlformats.org/drawingml/2006/main">
              <a:ext uri="{FF2B5EF4-FFF2-40B4-BE49-F238E27FC236}">
                <a16:creationId xmlns:a16="http://schemas.microsoft.com/office/drawing/2014/main" id="{16A8AE78-4FA7-4843-93A5-F4D9116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LAST SEAT</a:t>
            </a:r>
          </a:p>
        </p:txBody>
      </p:sp>
      <p:sp>
        <p:nvSpPr>
          <p:cNvPr id="8" name="seat-repair-heading">
            <a:extLst xmlns:a="http://schemas.openxmlformats.org/drawingml/2006/main">
              <a:ext uri="{FF2B5EF4-FFF2-40B4-BE49-F238E27FC236}">
                <a16:creationId xmlns:a16="http://schemas.microsoft.com/office/drawing/2014/main" id="{9ACF183A-9E80-4E50-8054-ED4DF0F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0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One lock spans the reservation path.</a:t>
            </a:r>
          </a:p>
        </p:txBody>
      </p:sp>
      <p:sp>
        <p:nvSpPr>
          <p:cNvPr id="9" name="seat-repair-details">
            <a:extLst xmlns:a="http://schemas.openxmlformats.org/drawingml/2006/main">
              <a:ext uri="{FF2B5EF4-FFF2-40B4-BE49-F238E27FC236}">
                <a16:creationId xmlns:a16="http://schemas.microsoft.com/office/drawing/2014/main" id="{CAFD66B1-6674-47DB-B00B-CE9E3F7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Availability check</a:t>
            </a:r>
          </a:p>
          <a:p xmlns:a="http://schemas.openxmlformats.org/drawingml/2006/main">
            <a:pPr>
              <a:def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Seat decrement</a:t>
            </a:r>
          </a:p>
          <a:p xmlns:a="http://schemas.openxmlformats.org/drawingml/2006/main">
            <a:pPr>
              <a:def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Reservation record</a:t>
            </a:r>
          </a:p>
        </p:txBody>
      </p:sp>
      <p:sp>
        <p:nvSpPr>
          <p:cNvPr id="10" name="seat-read-details">
            <a:extLst xmlns:a="http://schemas.openxmlformats.org/drawingml/2006/main">
              <a:ext uri="{FF2B5EF4-FFF2-40B4-BE49-F238E27FC236}">
                <a16:creationId xmlns:a16="http://schemas.microsoft.com/office/drawing/2014/main" id="{95226A6E-AFF2-463F-8085-5E7316F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6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Reads synchronize; callers receive detached reservation snapshots.</a:t>
            </a:r>
          </a:p>
        </p:txBody>
      </p:sp>
      <p:sp>
        <p:nvSpPr>
          <p:cNvPr id="11" name="claim-repair-label">
            <a:extLst xmlns:a="http://schemas.openxmlformats.org/drawingml/2006/main">
              <a:ext uri="{FF2B5EF4-FFF2-40B4-BE49-F238E27FC236}">
                <a16:creationId xmlns:a16="http://schemas.microsoft.com/office/drawing/2014/main" id="{2DBC40AE-B507-40D9-972B-C5C8B48B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DUPLICATE JOB CLAIM</a:t>
            </a:r>
          </a:p>
        </p:txBody>
      </p:sp>
      <p:sp>
        <p:nvSpPr>
          <p:cNvPr id="12" name="claim-repair-heading">
            <a:extLst xmlns:a="http://schemas.openxmlformats.org/drawingml/2006/main">
              <a:ext uri="{FF2B5EF4-FFF2-40B4-BE49-F238E27FC236}">
                <a16:creationId xmlns:a16="http://schemas.microsoft.com/office/drawing/2014/main" id="{65D65B08-A089-47EF-93E6-90E750B8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One lock spans check and claim.</a:t>
            </a:r>
          </a:p>
        </p:txBody>
      </p:sp>
      <p:sp>
        <p:nvSpPr>
          <p:cNvPr id="13" name="claim-repair-details">
            <a:extLst xmlns:a="http://schemas.openxmlformats.org/drawingml/2006/main">
              <a:ext uri="{FF2B5EF4-FFF2-40B4-BE49-F238E27FC236}">
                <a16:creationId xmlns:a16="http://schemas.microsoft.com/office/drawing/2014/main" id="{BEB9225E-CD2B-430F-A994-D42BCD44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Check job status</a:t>
            </a:r>
          </a:p>
          <a:p xmlns:a="http://schemas.openxmlformats.org/drawingml/2006/main">
            <a:pPr>
              <a:def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Mark the job claimed</a:t>
            </a:r>
          </a:p>
          <a:p xmlns:a="http://schemas.openxmlformats.org/drawingml/2006/main">
            <a:pPr>
              <a:def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Return the worker outcome</a:t>
            </a:r>
          </a:p>
        </p:txBody>
      </p:sp>
      <p:sp>
        <p:nvSpPr>
          <p:cNvPr id="14" name="oracle-callout">
            <a:extLst xmlns:a="http://schemas.openxmlformats.org/drawingml/2006/main">
              <a:ext uri="{FF2B5EF4-FFF2-40B4-BE49-F238E27FC236}">
                <a16:creationId xmlns:a16="http://schemas.microsoft.com/office/drawing/2014/main" id="{3CC0E60A-DB07-4294-9498-FCA7BA35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857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5F0EE"/>
          </a:solidFill>
          <a:ln xmlns:a="http://schemas.openxmlformats.org/drawingml/2006/main" w="0">
            <a:noFill/>
          </a:ln>
        </p:spPr>
      </p:sp>
      <p:sp>
        <p:nvSpPr>
          <p:cNvPr id="15" name="oracle-text">
            <a:extLst xmlns:a="http://schemas.openxmlformats.org/drawingml/2006/main">
              <a:ext uri="{FF2B5EF4-FFF2-40B4-BE49-F238E27FC236}">
                <a16:creationId xmlns:a16="http://schemas.microsoft.com/office/drawing/2014/main" id="{945C44E2-7610-4013-9253-410E9E6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2445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Test counts actual ClaimResult.Claimed returns.</a:t>
            </a:r>
          </a:p>
        </p:txBody>
      </p:sp>
    </p:spTree>
    <p:extLst>
      <p:ext uri="{BB962C8B-B14F-4D97-AF65-F5344CB8AC3E}">
        <p14:creationId xmlns:p14="http://schemas.microsoft.com/office/powerpoint/2010/main" val="1925743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CD4004D-5C76-4B32-AA0B-2570E15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INTERLEAVE  /  M2 EVIDENCE SNAPSHOT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6E6904-84D3-418C-85C9-8582FFA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A tested local prototype still has release gates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81CD538-3246-406A-988B-3635F36C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82B07D-C5DA-455E-A363-8FCDC8E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D3A2D4D-4D46-4A91-89A8-8F6754D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B74"/>
                </a:solidFill>
                <a:latin typeface="Helvetica Neue"/>
                <a:ea typeface="Helvetica Neue"/>
                <a:cs typeface="Helvetica Neue"/>
              </a:rPr>
              <a:t>Current evidence describes two in-memory .NET examples, not a hosted product.</a:t>
            </a:r>
          </a:p>
        </p:txBody>
      </p:sp>
      <p:sp>
        <p:nvSpPr>
          <p:cNvPr id="6" name="implemented-heading">
            <a:extLst xmlns:a="http://schemas.openxmlformats.org/drawingml/2006/main">
              <a:ext uri="{FF2B5EF4-FFF2-40B4-BE49-F238E27FC236}">
                <a16:creationId xmlns:a16="http://schemas.microsoft.com/office/drawing/2014/main" id="{FD153E97-3F5A-4C7F-B918-E2756DCE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72"/>
                </a:solidFill>
                <a:latin typeface="Helvetica Neue"/>
                <a:ea typeface="Helvetica Neue"/>
                <a:cs typeface="Helvetica Neue"/>
              </a:rPr>
              <a:t>VERIFIED LOCALLY</a:t>
            </a:r>
          </a:p>
        </p:txBody>
      </p:sp>
      <p:sp>
        <p:nvSpPr>
          <p:cNvPr id="7" name="implemented-list">
            <a:extLst xmlns:a="http://schemas.openxmlformats.org/drawingml/2006/main">
              <a:ext uri="{FF2B5EF4-FFF2-40B4-BE49-F238E27FC236}">
                <a16:creationId xmlns:a16="http://schemas.microsoft.com/office/drawing/2014/main" id="{2C021AF3-B732-486E-886D-538EE4A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5010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Two synthetic .NET 8 concurrency scenarios</a:t>
            </a:r>
          </a:p>
          <a:p xmlns:a="http://schemas.openxmlformats.org/drawingml/2006/main">
            <a:pPr>
              <a:def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Frozen Coyote baseline reports, traces, and checksums</a:t>
            </a:r>
          </a:p>
          <a:p xmlns:a="http://schemas.openxmlformats.org/drawingml/2006/main">
            <a:pPr>
              <a:def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13 / 13 sequential tests and 9 / 9 Coyote tests</a:t>
            </a:r>
          </a:p>
          <a:p xmlns:a="http://schemas.openxmlformats.org/drawingml/2006/main">
            <a:pPr>
              <a:def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500 fair paths per repaired scenario at a 1,000-step limit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9660CE4E-57A1-4916-BD50-1F572F0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9" name="open-heading">
            <a:extLst xmlns:a="http://schemas.openxmlformats.org/drawingml/2006/main">
              <a:ext uri="{FF2B5EF4-FFF2-40B4-BE49-F238E27FC236}">
                <a16:creationId xmlns:a16="http://schemas.microsoft.com/office/drawing/2014/main" id="{6A1EA25B-957A-407A-8C18-DF730E7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76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7671B"/>
                </a:solidFill>
                <a:latin typeface="Helvetica Neue"/>
                <a:ea typeface="Helvetica Neue"/>
                <a:cs typeface="Helvetica Neue"/>
              </a:rPr>
              <a:t>STILL OPEN</a:t>
            </a:r>
          </a:p>
        </p:txBody>
      </p:sp>
      <p:sp>
        <p:nvSpPr>
          <p:cNvPr id="10" name="open-list">
            <a:extLst xmlns:a="http://schemas.openxmlformats.org/drawingml/2006/main">
              <a:ext uri="{FF2B5EF4-FFF2-40B4-BE49-F238E27FC236}">
                <a16:creationId xmlns:a16="http://schemas.microsoft.com/office/drawing/2014/main" id="{E498C7F0-AD0A-43BB-AE11-670755C7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9149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Verified release tag</a:t>
            </a:r>
          </a:p>
          <a:p xmlns:a="http://schemas.openxmlformats.org/drawingml/2006/main">
            <a:pPr>
              <a:def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Genuine Bob session-summary screenshots</a:t>
            </a:r>
          </a:p>
          <a:p xmlns:a="http://schemas.openxmlformats.org/drawingml/2006/main">
            <a:pPr>
              <a:def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Hosted user-facing demo and application URL</a:t>
            </a:r>
          </a:p>
          <a:p xmlns:a="http://schemas.openxmlformats.org/drawingml/2006/main">
            <a:pPr>
              <a:def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Recorded MP4 with a real working-product demo</a:t>
            </a:r>
          </a:p>
          <a:p xmlns:a="http://schemas.openxmlformats.org/drawingml/2006/main">
            <a:pPr>
              <a:def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Remote CI, benchmark, and event eligibility checks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B57F8C9F-CD11-404C-B955-E8464D7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7"/>
          </a:solidFill>
          <a:ln xmlns:a="http://schemas.openxmlformats.org/drawingml/2006/main" w="0">
            <a:noFill/>
          </a:ln>
        </p:spPr>
      </p:sp>
      <p:sp>
        <p:nvSpPr>
          <p:cNvPr id="12" name="scope-caveat">
            <a:extLst xmlns:a="http://schemas.openxmlformats.org/drawingml/2006/main">
              <a:ext uri="{FF2B5EF4-FFF2-40B4-BE49-F238E27FC236}">
                <a16:creationId xmlns:a16="http://schemas.microsoft.com/office/drawing/2014/main" id="{857D9527-337E-47CD-AC8B-9C6423B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12B"/>
                </a:solidFill>
                <a:latin typeface="Helvetica Neue"/>
                <a:ea typeface="Helvetica Neue"/>
                <a:cs typeface="Helvetica Neue"/>
              </a:rPr>
              <a:t>Exact schedule alignment for both supplied post-fix traces remains unresolved. Bounded results do not guarantee race freedom.</a:t>
            </a:r>
          </a:p>
        </p:txBody>
      </p:sp>
    </p:spTree>
    <p:extLst>
      <p:ext uri="{BB962C8B-B14F-4D97-AF65-F5344CB8AC3E}">
        <p14:creationId xmlns:p14="http://schemas.microsoft.com/office/powerpoint/2010/main" val="397337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2026-09-27T15:04:05.1600000Z</dcterms:created>
  <dcterms:modified xsi:type="dcterms:W3CDTF">2026-09-27T15:04:05.1600000Z</dcterms:modified>
</coreProperties>
</file>